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9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1587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ÁN 1 — BLOCK 2, HK SUMMER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Xây dựng Mô hình Phân loại và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Rủi ro Khách hàng Vay vốn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credit-risk-classifier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201168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794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?  •  FPT Polytechnic  •  GVHD: Thầy Nguyễn Văn Long</a:t>
            </a:r>
            <a:endParaRPr lang="en-US" sz="1400" dirty="0"/>
          </a:p>
        </p:txBody>
      </p:sp>
      <p:pic>
        <p:nvPicPr>
          <p:cNvPr id="9" name="Hình ảnh 8">
            <a:extLst>
              <a:ext uri="{FF2B5EF4-FFF2-40B4-BE49-F238E27FC236}">
                <a16:creationId xmlns:a16="http://schemas.microsoft.com/office/drawing/2014/main" id="{F92FDF62-F84D-B15B-5A59-C8E908B91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Thành viên nhóm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1024128"/>
            <a:ext cx="420624" cy="420624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97280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9875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66160" y="98755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trưởng / PM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80160" y="126187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Git, NB02 + sql/, NB04, NB06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65760" y="164592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164592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Shape 14"/>
          <p:cNvSpPr/>
          <p:nvPr/>
        </p:nvSpPr>
        <p:spPr>
          <a:xfrm>
            <a:off x="640080" y="1755648"/>
            <a:ext cx="420624" cy="420624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80160" y="17190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Anh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566160" y="1719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280160" y="199339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NB05 Feature Engineering (18 đặc trưng), dựng lại DB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365760" y="23774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65760" y="237744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Shape 20"/>
          <p:cNvSpPr/>
          <p:nvPr/>
        </p:nvSpPr>
        <p:spPr>
          <a:xfrm>
            <a:off x="640080" y="2487168"/>
            <a:ext cx="420624" cy="420624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60320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280160" y="245059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3566160" y="24505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80160" y="272491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NB04 EDA (9 nhóm biến, 38 insight)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365760" y="310896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65760" y="310896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Shape 26"/>
          <p:cNvSpPr/>
          <p:nvPr/>
        </p:nvSpPr>
        <p:spPr>
          <a:xfrm>
            <a:off x="640080" y="3218688"/>
            <a:ext cx="420624" cy="420624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91840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280160" y="31821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Thái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3566160" y="3182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 / Docs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1280160" y="345643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Whitepaper Chương 2, 3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365760" y="384048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365760" y="384048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8" name="Shape 32"/>
          <p:cNvSpPr/>
          <p:nvPr/>
        </p:nvSpPr>
        <p:spPr>
          <a:xfrm>
            <a:off x="640080" y="3950208"/>
            <a:ext cx="420624" cy="420624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23360"/>
            <a:ext cx="237744" cy="237744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280160" y="39136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Thắng</a:t>
            </a:r>
            <a:endParaRPr lang="en-US" sz="1500" dirty="0"/>
          </a:p>
        </p:txBody>
      </p:sp>
      <p:sp>
        <p:nvSpPr>
          <p:cNvPr id="41" name="Text 34"/>
          <p:cNvSpPr/>
          <p:nvPr/>
        </p:nvSpPr>
        <p:spPr>
          <a:xfrm>
            <a:off x="3566160" y="39136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1280160" y="418795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huấn luyện &amp; đánh giá model</a:t>
            </a:r>
            <a:endParaRPr lang="en-US" sz="1200" dirty="0"/>
          </a:p>
        </p:txBody>
      </p:sp>
      <p:pic>
        <p:nvPicPr>
          <p:cNvPr id="44" name="Hình ảnh 43">
            <a:extLst>
              <a:ext uri="{FF2B5EF4-FFF2-40B4-BE49-F238E27FC236}">
                <a16:creationId xmlns:a16="http://schemas.microsoft.com/office/drawing/2014/main" id="{6A20DBED-CABE-BEFB-EC7C-ABD73C013D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Kaggle — Home Credit Default Risk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00584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~2.5 GB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0040" y="141732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Kích thước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6916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file CSV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14600" y="868680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14600" y="100584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307.511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514600" y="141732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chính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16916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× 122 cột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868680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100584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8,07%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09160" y="141732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09160" y="16916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868680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03720" y="100584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24.825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03720" y="141732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Vỡ nợ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03720" y="16916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282.686 không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phụ lớn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606040"/>
            <a:ext cx="4023360" cy="32004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bureau_balance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017520" y="26060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27,3 triệu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971800"/>
            <a:ext cx="4023360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2971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installments_payments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297180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 triệu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337560"/>
            <a:ext cx="4023360" cy="32004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3337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POS_CASH_balance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33375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triệu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703320"/>
            <a:ext cx="4023360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" y="3703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credit_card_balance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017520" y="3703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 triệu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663440" y="2240280"/>
            <a:ext cx="4114800" cy="2194560"/>
          </a:xfrm>
          <a:prstGeom prst="roundRect">
            <a:avLst>
              <a:gd name="adj" fmla="val 4167"/>
            </a:avLst>
          </a:prstGeom>
          <a:solidFill>
            <a:srgbClr val="0F172A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2377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nghiên cứu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846320" y="283464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Khách nào có nguy cơ vỡ nợ?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Yếu tố nào quyết định rủi ro?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Lịch sử tín dụng ở tổ chức khác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có giá trị dự báo không?</a:t>
            </a:r>
            <a:endParaRPr lang="en-US" sz="1300" dirty="0"/>
          </a:p>
        </p:txBody>
      </p:sp>
      <p:pic>
        <p:nvPicPr>
          <p:cNvPr id="41" name="Hình ảnh 40">
            <a:extLst>
              <a:ext uri="{FF2B5EF4-FFF2-40B4-BE49-F238E27FC236}">
                <a16:creationId xmlns:a16="http://schemas.microsoft.com/office/drawing/2014/main" id="{7D612EB5-5751-BC47-C133-04EB696E9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phát triển dự án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bài toán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2588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60020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60020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2588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2588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data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2316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69748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69748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2316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42316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Nạp &amp; Index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2044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79476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379476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2044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2044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sạch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1772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9204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1772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1772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71500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98932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598932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71500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71500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đặc trưng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81228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08660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708660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81228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1228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Huấn luyện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09560" y="960120"/>
            <a:ext cx="1005840" cy="1325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183880" y="1097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5" name="Text 43"/>
          <p:cNvSpPr/>
          <p:nvPr/>
        </p:nvSpPr>
        <p:spPr>
          <a:xfrm>
            <a:off x="818388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909560" y="1645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909560" y="1920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5760" y="2560320"/>
            <a:ext cx="40233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2560320"/>
            <a:ext cx="109728" cy="1920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" y="2697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Nhánh SQL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640080" y="31089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• Aggregation • Index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truy vấn trên dữ liệu lớn, tránh row explosion, đảm bảo tính toàn vẹn khóa.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754880" y="2560320"/>
            <a:ext cx="40233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754880" y="2560320"/>
            <a:ext cx="109728" cy="1920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4" name="Text 52"/>
          <p:cNvSpPr/>
          <p:nvPr/>
        </p:nvSpPr>
        <p:spPr>
          <a:xfrm>
            <a:off x="5029200" y="2697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Nhánh Python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5029200" y="31089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• Cleaning thống kê • Modeling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 hoạt xử lý outlier, tạo biến phức tạp, huấn luyện &amp; đánh giá model.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Khảo sát &amp; phân tích Schema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Khóa nối chính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234440"/>
            <a:ext cx="41148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23444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SK_ID_CURR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123444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trung tâm (application)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737360"/>
            <a:ext cx="41148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17373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SK_ID_PREV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17373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 vay trước đây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240280"/>
            <a:ext cx="41148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2402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SK_ID_BUREAU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60320" y="22402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bureau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86868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quan trọng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83480" y="14630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khai được FOREIGN KEY vì có bản ghi mồ côi (orphan records) do dataset Kaggle bị cắt: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83480" y="22860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42.320  •  47.800  •  38.847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37.422  •  11.372  •  43.041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Thay bằng INDEX trên khóa nối.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rõ lý do thay vì giấu đi.</a:t>
            </a:r>
            <a:endParaRPr lang="en-US" sz="1300" dirty="0"/>
          </a:p>
        </p:txBody>
      </p:sp>
      <p:pic>
        <p:nvPicPr>
          <p:cNvPr id="24" name="Hình ảnh 23">
            <a:extLst>
              <a:ext uri="{FF2B5EF4-FFF2-40B4-BE49-F238E27FC236}">
                <a16:creationId xmlns:a16="http://schemas.microsoft.com/office/drawing/2014/main" id="{2B10F184-56F5-3E68-7906-03581094E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Kỹ thuật tích hợp dữ liệu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bảng raw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417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gốc Kaggle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D9488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20040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051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bảng summary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00400" y="1417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dòng / khách hàng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6072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D9488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1792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51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application_flat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1417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307.511 × 154 cột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194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194560"/>
            <a:ext cx="9144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trước khi join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2651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Tránh row explosion — aggregate về mức khách hàng trước LEFT JOIN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2194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194560"/>
            <a:ext cx="9144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Bureau 2 tầng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83480" y="2651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bureau_balance → theo SK_ID_BUREAU → theo SK_ID_CURR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37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3337560"/>
            <a:ext cx="9144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khóa nối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" y="3794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tốc query trên bảng lớn (hàng chục triệu dòng)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54880" y="3337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3337560"/>
            <a:ext cx="9144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thay AVG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983480" y="3794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CREDIT_DAY_OVERDUE: chọn MAX để bắt mức trễ nghiêm trọng nhất</a:t>
            </a:r>
            <a:endParaRPr lang="en-US" sz="1200" dirty="0"/>
          </a:p>
        </p:txBody>
      </p:sp>
      <p:pic>
        <p:nvPicPr>
          <p:cNvPr id="36" name="Hình ảnh 35">
            <a:extLst>
              <a:ext uri="{FF2B5EF4-FFF2-40B4-BE49-F238E27FC236}">
                <a16:creationId xmlns:a16="http://schemas.microsoft.com/office/drawing/2014/main" id="{20131405-BDA6-F94C-BA61-05F6BAAE4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 &amp; làm sạch (NB03)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868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→ After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4754880" cy="3200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1887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số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1188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66160" y="1188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1508760"/>
            <a:ext cx="475488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50876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 thiếu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03120" y="15087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11.043.065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66160" y="15087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2.313.432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1856232"/>
            <a:ext cx="47548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8562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trị sai logic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3120" y="185623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56.702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66160" y="185623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203704"/>
            <a:ext cx="475488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20370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 lượng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03120" y="220370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400,3 MB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66160" y="220370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337,8 MB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2551176"/>
            <a:ext cx="47548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55117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cột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103120" y="25511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66160" y="25511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2898648"/>
            <a:ext cx="475488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289864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dòng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103120" y="28986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566160" y="28986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305.181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94960" y="868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xử lý cụ thể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394960" y="1234440"/>
            <a:ext cx="33832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532120" y="125272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DAYS_EMPLOYED = 365243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32120" y="146304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55.006 dòng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394960" y="1737360"/>
            <a:ext cx="33832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32120" y="175564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CODE_GENDER = XNA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32120" y="196596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dòng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394960" y="2240280"/>
            <a:ext cx="33832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532120" y="225856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Dư nợ âm bureau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32120" y="246888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1.282 dòng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394960" y="2743200"/>
            <a:ext cx="33832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532120" y="276148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P99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532120" y="297180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29.034 giá trị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94960" y="3246120"/>
            <a:ext cx="33832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532120" y="3264408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Loại 28 cột _mode/_medi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532120" y="347472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trùng thông tin</a:t>
            </a:r>
            <a:endParaRPr lang="en-US" sz="1100" dirty="0"/>
          </a:p>
        </p:txBody>
      </p:sp>
      <p:pic>
        <p:nvPicPr>
          <p:cNvPr id="50" name="Hình ảnh 49">
            <a:extLst>
              <a:ext uri="{FF2B5EF4-FFF2-40B4-BE49-F238E27FC236}">
                <a16:creationId xmlns:a16="http://schemas.microsoft.com/office/drawing/2014/main" id="{350DA489-88FB-20AA-1F6A-F61366595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(NB05)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9601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tạo 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14600" y="8686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9601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14600" y="13716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giữ lại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8686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9601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709160" y="13716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loại bỏ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03720" y="8686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9601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903720" y="13716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tăng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biến phái sinh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2286000"/>
            <a:ext cx="160020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28600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057400" y="2286000"/>
            <a:ext cx="160020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2057400" y="228600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(DTI, LTV)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749040" y="2286000"/>
            <a:ext cx="160020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3749040" y="228600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40680" y="2286000"/>
            <a:ext cx="160020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5440680" y="228600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32320" y="2286000"/>
            <a:ext cx="160020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0" y="228600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8412480" cy="1645920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0175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nổi bật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33832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AUC: 0,7768 → 0,7798 sau khi thêm feature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ext_sources_mean quan trọng nhất trong 269 cột — gấp ~9 lần biến thứ hai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5/10 biến mạnh nhất là do nhóm tự tạo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Chống rò rỉ dữ liệu: fit preprocessing chỉ trên train</a:t>
            </a:r>
            <a:endParaRPr lang="en-US" sz="1300" dirty="0"/>
          </a:p>
        </p:txBody>
      </p:sp>
      <p:pic>
        <p:nvPicPr>
          <p:cNvPr id="35" name="Hình ảnh 34">
            <a:extLst>
              <a:ext uri="{FF2B5EF4-FFF2-40B4-BE49-F238E27FC236}">
                <a16:creationId xmlns:a16="http://schemas.microsoft.com/office/drawing/2014/main" id="{23A490A3-3ED1-B5F7-656B-2A6017A27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khám phá — EDA (NB04)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051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nhóm biến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0040" y="14630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insight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cụm → NB05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46120" y="868680"/>
            <a:ext cx="26974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94183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Tuổi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116128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&lt;25 → &gt;12%  vs 55+ chỉ 5,22%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868680"/>
            <a:ext cx="26974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94183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EXT_SOURCE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116128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Thấp 14,5–17,5%  vs cao 3,0–3,3%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46120" y="1600200"/>
            <a:ext cx="26974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167335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189280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 nhất 11,5%  tỷ lệ vỡ nợ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1600200"/>
            <a:ext cx="26974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167335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Bureau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189280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 ngược chiều  các cờ lịch sử khác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2468880"/>
            <a:ext cx="85039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2468880"/>
            <a:ext cx="109728" cy="19659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6517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quan trọng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306324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Top 30 tương quan Pearson: không biến đơn nào dự báo được tốt (max |r| ≈ 0,18).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Đây chính là lý do phải làm Feature Engineering — biến đơn lẻ không đủ sức mạnh dự báo, cần tương tác và tổng hợp lịch sử.</a:t>
            </a:r>
            <a:endParaRPr lang="en-US" sz="1400" dirty="0"/>
          </a:p>
        </p:txBody>
      </p:sp>
      <p:pic>
        <p:nvPicPr>
          <p:cNvPr id="28" name="Hình ảnh 27">
            <a:extLst>
              <a:ext uri="{FF2B5EF4-FFF2-40B4-BE49-F238E27FC236}">
                <a16:creationId xmlns:a16="http://schemas.microsoft.com/office/drawing/2014/main" id="{7E6FA433-D247-5A3E-B42F-564D48A6A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hóa AI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Phân loại nhị phân có giám sát — dữ liệu mất cân bằng ~8%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371600"/>
            <a:ext cx="20574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371600"/>
            <a:ext cx="2057400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6459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240280"/>
            <a:ext cx="1325880" cy="292608"/>
          </a:xfrm>
          <a:prstGeom prst="roundRect">
            <a:avLst>
              <a:gd name="adj" fmla="val 15625"/>
            </a:avLst>
          </a:prstGeom>
          <a:solidFill>
            <a:srgbClr val="64748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6974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đoán ngẫu nhiên / majority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14600" y="1371600"/>
            <a:ext cx="20574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14600" y="1371600"/>
            <a:ext cx="20574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16459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880360" y="2240280"/>
            <a:ext cx="1325880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2880360" y="2240280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06040" y="26974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tuyến tính cổ điển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1371600"/>
            <a:ext cx="20574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371600"/>
            <a:ext cx="2057400" cy="10972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6459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74920" y="2240280"/>
            <a:ext cx="1325880" cy="292608"/>
          </a:xfrm>
          <a:prstGeom prst="roundRect">
            <a:avLst>
              <a:gd name="adj" fmla="val 15625"/>
            </a:avLst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5074920" y="2240280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00600" y="26974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Bag-based, robust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03720" y="1371600"/>
            <a:ext cx="20574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1371600"/>
            <a:ext cx="205740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6995160" y="16459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269480" y="2240280"/>
            <a:ext cx="1325880" cy="292608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7269480" y="2240280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95160" y="26974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Boosting, xử lý missing tốt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3657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train/test có stratify • Chỉ fit preprocessing trên train • Tránh data leakage</a:t>
            </a:r>
            <a:endParaRPr lang="en-US" sz="1300" dirty="0"/>
          </a:p>
        </p:txBody>
      </p:sp>
      <p:pic>
        <p:nvPicPr>
          <p:cNvPr id="35" name="Hình ảnh 34">
            <a:extLst>
              <a:ext uri="{FF2B5EF4-FFF2-40B4-BE49-F238E27FC236}">
                <a16:creationId xmlns:a16="http://schemas.microsoft.com/office/drawing/2014/main" id="{7A49F3DB-546C-B793-D405-2442E20FA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 hiệu suất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AUC-ROC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234440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234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12344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0,7792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1645920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08960" y="16459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0,7691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057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0" y="2057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0,7630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468880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" y="2468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108960" y="2468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0,5000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86868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 nghiệp vụ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1508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mặc định 0,5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bắt được 3,24% khách vỡ nợ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37760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Youden J = 0,0747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26517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73% khách vỡ nợ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đổi: 17.398 khách tốt bị từ chối oan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3474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Thể hiện trade-off thực tế giữa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từ chối nhầm vs chi phí vỡ nợ.</a:t>
            </a:r>
            <a:endParaRPr lang="en-US" sz="1300" dirty="0"/>
          </a:p>
        </p:txBody>
      </p:sp>
      <p:pic>
        <p:nvPicPr>
          <p:cNvPr id="29" name="Hình ảnh 28">
            <a:extLst>
              <a:ext uri="{FF2B5EF4-FFF2-40B4-BE49-F238E27FC236}">
                <a16:creationId xmlns:a16="http://schemas.microsoft.com/office/drawing/2014/main" id="{B6018D23-11F0-41D1-3D85-A15321178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trên Git &amp; theo dõi task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91440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914400"/>
            <a:ext cx="41148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Workflow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100+ Pull Requests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Ruleset protect-main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Chỉ nhóm trưởng được merge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Nhánh: feature/ • fix/ • docs/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Hook chặn commit trực tiếp trên main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Mỗi người 1 file context → ít conflict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91440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914400"/>
            <a:ext cx="411480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 task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3776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 tại: Google Sheet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201168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bài yêu cầu Jira/Trello + ảnh Kanban.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Cần hỏi thầy trước khi chốt slide này để đảm bảo đúng yêu cầu.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37760" y="3566160"/>
            <a:ext cx="365760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566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Nên xác nhận với GVHD</a:t>
            </a:r>
            <a:endParaRPr lang="en-US" sz="1300" dirty="0"/>
          </a:p>
        </p:txBody>
      </p:sp>
      <p:pic>
        <p:nvPicPr>
          <p:cNvPr id="25" name="Hình ảnh 24">
            <a:extLst>
              <a:ext uri="{FF2B5EF4-FFF2-40B4-BE49-F238E27FC236}">
                <a16:creationId xmlns:a16="http://schemas.microsoft.com/office/drawing/2014/main" id="{E9BF1012-93F2-64B6-2835-BA4F7E517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và xử lý lỗi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thật — rất thuyết phục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344168"/>
            <a:ext cx="347472" cy="34747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344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128016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credit_day_overdue khai TEXT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527048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so sánh theo chữ → khách trễ 2.792 ngày bị ghi thành 9 ngày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874520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1984248"/>
            <a:ext cx="347472" cy="34747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19842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192024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3 Copy-on-Write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167128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filterwarnings("ignore") nuốt ChainedAssignmentError → 2 bước làm sạch thất bại âm thầm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514600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624328"/>
            <a:ext cx="347472" cy="34747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624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256032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NB05 execution_count = None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807208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ghi full data nhưng output thực tế là mẫu 15k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154680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264408"/>
            <a:ext cx="347472" cy="34747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6440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5840" y="320040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NB03 markdown lệch code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447288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"131 cột" nhưng code chạy thật ra "127 cột"</a:t>
            </a:r>
            <a:endParaRPr lang="en-US" sz="1200" dirty="0"/>
          </a:p>
        </p:txBody>
      </p:sp>
      <p:pic>
        <p:nvPicPr>
          <p:cNvPr id="30" name="Hình ảnh 29">
            <a:extLst>
              <a:ext uri="{FF2B5EF4-FFF2-40B4-BE49-F238E27FC236}">
                <a16:creationId xmlns:a16="http://schemas.microsoft.com/office/drawing/2014/main" id="{9745D765-8208-07F2-1022-39C13F105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Khó khăn và thuận lợi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41605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914400"/>
            <a:ext cx="416052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Khó khăn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155448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Dữ liệu 2.5 GB tràn RAM → đọc chunk + reduce_mem_usage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Lệch môi trường giữa các máy → ghim version trong requirements.txt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Mất cân bằng lớp 8%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Lỗi âm thầm nguy hiểm hơn lỗi báo đỏ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09160" y="914400"/>
            <a:ext cx="41605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914400"/>
            <a:ext cx="416052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960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Thuận lợi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92040" y="155448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Quy trình Git + hook chặn commit trên main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19456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Mỗi người 1 file context → không conflict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83464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SQL và Python cho cùng kết quả khi đối chiếu chéo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3474720"/>
            <a:ext cx="3794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 con số khóa mồ côi khớp tuyệt đối</a:t>
            </a:r>
            <a:endParaRPr lang="en-US" sz="1300" dirty="0"/>
          </a:p>
        </p:txBody>
      </p:sp>
      <p:pic>
        <p:nvPicPr>
          <p:cNvPr id="23" name="Hình ảnh 22">
            <a:extLst>
              <a:ext uri="{FF2B5EF4-FFF2-40B4-BE49-F238E27FC236}">
                <a16:creationId xmlns:a16="http://schemas.microsoft.com/office/drawing/2014/main" id="{23E1E7E9-667F-87C9-E007-9E8D82E35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xuất cải tiến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800600"/>
            <a:ext cx="6858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Classifier  |  Nhóm 01 — FPT Polytechnic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10972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914400"/>
            <a:ext cx="4160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14300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3444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3000" y="1143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&gt; Algorithm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mô hình chỉ chênh ~0,016 → đầu tư thêm đặc trưng hiệu quả hơn đổi thuật toán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09160" y="914400"/>
            <a:ext cx="4160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92040" y="114300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23444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32120" y="1143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/ XGBoost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93776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Thử boosting mạnh hơn + tuning ngưỡng theo chi phí thực tế (từ chối nhầm vs vỡ nợ)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320040" y="2651760"/>
            <a:ext cx="4160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02920" y="288036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97180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143000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interactive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48640" y="34290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/ Streamlit + deploy web: người dùng nhập hồ sơ → nhận % rủi ro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4709160" y="2651760"/>
            <a:ext cx="4160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92040" y="288036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97180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32120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Explainability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4937760" y="34290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mô hình để chuyên viên tín dụng tin được và sử dụng trong quyết định</a:t>
            </a:r>
            <a:endParaRPr lang="en-US" sz="1300" dirty="0"/>
          </a:p>
        </p:txBody>
      </p:sp>
      <p:pic>
        <p:nvPicPr>
          <p:cNvPr id="29" name="Hình ảnh 28">
            <a:extLst>
              <a:ext uri="{FF2B5EF4-FFF2-40B4-BE49-F238E27FC236}">
                <a16:creationId xmlns:a16="http://schemas.microsoft.com/office/drawing/2014/main" id="{814005E6-7FE7-AF11-5111-FBFBE3F31C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 VÀ CÁC BẠN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31720"/>
            <a:ext cx="27432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01 — Credit Risk Classifier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FPT Polytechnic • Block 2, HK Summer 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C257005D-0C9A-FEA9-63F1-F984D36C1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0" y="130552"/>
            <a:ext cx="1257300" cy="4272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 2013 – 2022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1493</Words>
  <Application>Microsoft Office PowerPoint</Application>
  <PresentationFormat>Trình chiếu Trên màn hình (16:9)</PresentationFormat>
  <Paragraphs>308</Paragraphs>
  <Slides>16</Slides>
  <Notes>16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Risk Classifier - Dự án 1</dc:title>
  <dc:subject>PptxGenJS Presentation</dc:subject>
  <dc:creator>Nhóm 01 - FPT Polytechnic</dc:creator>
  <cp:lastModifiedBy>bivibi</cp:lastModifiedBy>
  <cp:revision>3</cp:revision>
  <dcterms:created xsi:type="dcterms:W3CDTF">2026-08-08T21:25:06Z</dcterms:created>
  <dcterms:modified xsi:type="dcterms:W3CDTF">2026-08-08T21:46:40Z</dcterms:modified>
</cp:coreProperties>
</file>